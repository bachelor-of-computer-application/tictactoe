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440D7D8-DB82-44BC-A3CF-D439C4E6DB63}"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934F38-F44E-4963-B8AF-C94128672E1D}" type="slidenum">
              <a:rPr lang="en-US" smtClean="0"/>
              <a:t>‹#›</a:t>
            </a:fld>
            <a:endParaRPr lang="en-US"/>
          </a:p>
        </p:txBody>
      </p:sp>
    </p:spTree>
    <p:extLst>
      <p:ext uri="{BB962C8B-B14F-4D97-AF65-F5344CB8AC3E}">
        <p14:creationId xmlns:p14="http://schemas.microsoft.com/office/powerpoint/2010/main" val="6963554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40D7D8-DB82-44BC-A3CF-D439C4E6DB63}"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934F38-F44E-4963-B8AF-C94128672E1D}" type="slidenum">
              <a:rPr lang="en-US" smtClean="0"/>
              <a:t>‹#›</a:t>
            </a:fld>
            <a:endParaRPr lang="en-US"/>
          </a:p>
        </p:txBody>
      </p:sp>
    </p:spTree>
    <p:extLst>
      <p:ext uri="{BB962C8B-B14F-4D97-AF65-F5344CB8AC3E}">
        <p14:creationId xmlns:p14="http://schemas.microsoft.com/office/powerpoint/2010/main" val="851472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40D7D8-DB82-44BC-A3CF-D439C4E6DB63}"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934F38-F44E-4963-B8AF-C94128672E1D}" type="slidenum">
              <a:rPr lang="en-US" smtClean="0"/>
              <a:t>‹#›</a:t>
            </a:fld>
            <a:endParaRPr lang="en-US"/>
          </a:p>
        </p:txBody>
      </p:sp>
    </p:spTree>
    <p:extLst>
      <p:ext uri="{BB962C8B-B14F-4D97-AF65-F5344CB8AC3E}">
        <p14:creationId xmlns:p14="http://schemas.microsoft.com/office/powerpoint/2010/main" val="593700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440D7D8-DB82-44BC-A3CF-D439C4E6DB63}" type="datetimeFigureOut">
              <a:rPr lang="en-US" smtClean="0"/>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934F38-F44E-4963-B8AF-C94128672E1D}" type="slidenum">
              <a:rPr lang="en-US" smtClean="0"/>
              <a:t>‹#›</a:t>
            </a:fld>
            <a:endParaRPr lang="en-US"/>
          </a:p>
        </p:txBody>
      </p:sp>
    </p:spTree>
    <p:extLst>
      <p:ext uri="{BB962C8B-B14F-4D97-AF65-F5344CB8AC3E}">
        <p14:creationId xmlns:p14="http://schemas.microsoft.com/office/powerpoint/2010/main" val="543804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440D7D8-DB82-44BC-A3CF-D439C4E6DB63}" type="datetimeFigureOut">
              <a:rPr lang="en-US" smtClean="0"/>
              <a:t>7/11/2026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934F38-F44E-4963-B8AF-C94128672E1D}" type="slidenum">
              <a:rPr lang="en-US" smtClean="0"/>
              <a:t>‹#›</a:t>
            </a:fld>
            <a:endParaRPr lang="en-US"/>
          </a:p>
        </p:txBody>
      </p:sp>
    </p:spTree>
    <p:extLst>
      <p:ext uri="{BB962C8B-B14F-4D97-AF65-F5344CB8AC3E}">
        <p14:creationId xmlns:p14="http://schemas.microsoft.com/office/powerpoint/2010/main" val="828988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440D7D8-DB82-44BC-A3CF-D439C4E6DB63}" type="datetimeFigureOut">
              <a:rPr lang="en-US" smtClean="0"/>
              <a:t>7/11/2026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934F38-F44E-4963-B8AF-C94128672E1D}" type="slidenum">
              <a:rPr lang="en-US" smtClean="0"/>
              <a:t>‹#›</a:t>
            </a:fld>
            <a:endParaRPr lang="en-US"/>
          </a:p>
        </p:txBody>
      </p:sp>
    </p:spTree>
    <p:extLst>
      <p:ext uri="{BB962C8B-B14F-4D97-AF65-F5344CB8AC3E}">
        <p14:creationId xmlns:p14="http://schemas.microsoft.com/office/powerpoint/2010/main" val="3723661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40D7D8-DB82-44BC-A3CF-D439C4E6DB63}" type="datetimeFigureOut">
              <a:rPr lang="en-US" smtClean="0"/>
              <a:t>7/11/2026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934F38-F44E-4963-B8AF-C94128672E1D}" type="slidenum">
              <a:rPr lang="en-US" smtClean="0"/>
              <a:t>‹#›</a:t>
            </a:fld>
            <a:endParaRPr lang="en-US"/>
          </a:p>
        </p:txBody>
      </p:sp>
    </p:spTree>
    <p:extLst>
      <p:ext uri="{BB962C8B-B14F-4D97-AF65-F5344CB8AC3E}">
        <p14:creationId xmlns:p14="http://schemas.microsoft.com/office/powerpoint/2010/main" val="351140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40D7D8-DB82-44BC-A3CF-D439C4E6DB63}" type="datetimeFigureOut">
              <a:rPr lang="en-US" smtClean="0"/>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934F38-F44E-4963-B8AF-C94128672E1D}" type="slidenum">
              <a:rPr lang="en-US" smtClean="0"/>
              <a:t>‹#›</a:t>
            </a:fld>
            <a:endParaRPr lang="en-US"/>
          </a:p>
        </p:txBody>
      </p:sp>
    </p:spTree>
    <p:extLst>
      <p:ext uri="{BB962C8B-B14F-4D97-AF65-F5344CB8AC3E}">
        <p14:creationId xmlns:p14="http://schemas.microsoft.com/office/powerpoint/2010/main" val="3718964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40D7D8-DB82-44BC-A3CF-D439C4E6DB63}" type="datetimeFigureOut">
              <a:rPr lang="en-US" smtClean="0"/>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934F38-F44E-4963-B8AF-C94128672E1D}" type="slidenum">
              <a:rPr lang="en-US" smtClean="0"/>
              <a:t>‹#›</a:t>
            </a:fld>
            <a:endParaRPr lang="en-US"/>
          </a:p>
        </p:txBody>
      </p:sp>
    </p:spTree>
    <p:extLst>
      <p:ext uri="{BB962C8B-B14F-4D97-AF65-F5344CB8AC3E}">
        <p14:creationId xmlns:p14="http://schemas.microsoft.com/office/powerpoint/2010/main" val="2900611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40D7D8-DB82-44BC-A3CF-D439C4E6DB63}"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934F38-F44E-4963-B8AF-C94128672E1D}" type="slidenum">
              <a:rPr lang="en-US" smtClean="0"/>
              <a:t>‹#›</a:t>
            </a:fld>
            <a:endParaRPr lang="en-US"/>
          </a:p>
        </p:txBody>
      </p:sp>
    </p:spTree>
    <p:extLst>
      <p:ext uri="{BB962C8B-B14F-4D97-AF65-F5344CB8AC3E}">
        <p14:creationId xmlns:p14="http://schemas.microsoft.com/office/powerpoint/2010/main" val="2092029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40D7D8-DB82-44BC-A3CF-D439C4E6DB63}"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934F38-F44E-4963-B8AF-C94128672E1D}"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9467844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40D7D8-DB82-44BC-A3CF-D439C4E6DB63}"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934F38-F44E-4963-B8AF-C94128672E1D}" type="slidenum">
              <a:rPr lang="en-US" smtClean="0"/>
              <a:t>‹#›</a:t>
            </a:fld>
            <a:endParaRPr lang="en-US"/>
          </a:p>
        </p:txBody>
      </p:sp>
    </p:spTree>
    <p:extLst>
      <p:ext uri="{BB962C8B-B14F-4D97-AF65-F5344CB8AC3E}">
        <p14:creationId xmlns:p14="http://schemas.microsoft.com/office/powerpoint/2010/main" val="1895697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40D7D8-DB82-44BC-A3CF-D439C4E6DB63}"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934F38-F44E-4963-B8AF-C94128672E1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177691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40D7D8-DB82-44BC-A3CF-D439C4E6DB63}"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934F38-F44E-4963-B8AF-C94128672E1D}" type="slidenum">
              <a:rPr lang="en-US" smtClean="0"/>
              <a:t>‹#›</a:t>
            </a:fld>
            <a:endParaRPr lang="en-US"/>
          </a:p>
        </p:txBody>
      </p:sp>
    </p:spTree>
    <p:extLst>
      <p:ext uri="{BB962C8B-B14F-4D97-AF65-F5344CB8AC3E}">
        <p14:creationId xmlns:p14="http://schemas.microsoft.com/office/powerpoint/2010/main" val="34237978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40D7D8-DB82-44BC-A3CF-D439C4E6DB63}"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934F38-F44E-4963-B8AF-C94128672E1D}" type="slidenum">
              <a:rPr lang="en-US" smtClean="0"/>
              <a:t>‹#›</a:t>
            </a:fld>
            <a:endParaRPr lang="en-US"/>
          </a:p>
        </p:txBody>
      </p:sp>
    </p:spTree>
    <p:extLst>
      <p:ext uri="{BB962C8B-B14F-4D97-AF65-F5344CB8AC3E}">
        <p14:creationId xmlns:p14="http://schemas.microsoft.com/office/powerpoint/2010/main" val="41632135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40D7D8-DB82-44BC-A3CF-D439C4E6DB63}"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934F38-F44E-4963-B8AF-C94128672E1D}" type="slidenum">
              <a:rPr lang="en-US" smtClean="0"/>
              <a:t>‹#›</a:t>
            </a:fld>
            <a:endParaRPr lang="en-US"/>
          </a:p>
        </p:txBody>
      </p:sp>
    </p:spTree>
    <p:extLst>
      <p:ext uri="{BB962C8B-B14F-4D97-AF65-F5344CB8AC3E}">
        <p14:creationId xmlns:p14="http://schemas.microsoft.com/office/powerpoint/2010/main" val="446170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440D7D8-DB82-44BC-A3CF-D439C4E6DB63}" type="datetimeFigureOut">
              <a:rPr lang="en-US" smtClean="0"/>
              <a:t>7/11/2026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6934F38-F44E-4963-B8AF-C94128672E1D}" type="slidenum">
              <a:rPr lang="en-US" smtClean="0"/>
              <a:t>‹#›</a:t>
            </a:fld>
            <a:endParaRPr lang="en-US"/>
          </a:p>
        </p:txBody>
      </p:sp>
    </p:spTree>
    <p:extLst>
      <p:ext uri="{BB962C8B-B14F-4D97-AF65-F5344CB8AC3E}">
        <p14:creationId xmlns:p14="http://schemas.microsoft.com/office/powerpoint/2010/main" val="1806902437"/>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549C0-2A05-A983-DF6F-19F0D9A1FB0E}"/>
              </a:ext>
            </a:extLst>
          </p:cNvPr>
          <p:cNvSpPr>
            <a:spLocks noGrp="1"/>
          </p:cNvSpPr>
          <p:nvPr>
            <p:ph type="ctrTitle"/>
          </p:nvPr>
        </p:nvSpPr>
        <p:spPr>
          <a:xfrm>
            <a:off x="1203960" y="0"/>
            <a:ext cx="9144000" cy="1408176"/>
          </a:xfrm>
        </p:spPr>
        <p:txBody>
          <a:bodyPr/>
          <a:lstStyle/>
          <a:p>
            <a:pPr algn="ctr"/>
            <a:r>
              <a:rPr lang="en-US" dirty="0"/>
              <a:t>Introduction</a:t>
            </a:r>
          </a:p>
        </p:txBody>
      </p:sp>
      <p:sp>
        <p:nvSpPr>
          <p:cNvPr id="3" name="Subtitle 2">
            <a:extLst>
              <a:ext uri="{FF2B5EF4-FFF2-40B4-BE49-F238E27FC236}">
                <a16:creationId xmlns:a16="http://schemas.microsoft.com/office/drawing/2014/main" id="{3B1B4C69-9C84-8614-7AE0-A514F2BAFD48}"/>
              </a:ext>
            </a:extLst>
          </p:cNvPr>
          <p:cNvSpPr>
            <a:spLocks noGrp="1"/>
          </p:cNvSpPr>
          <p:nvPr>
            <p:ph type="subTitle" idx="1"/>
          </p:nvPr>
        </p:nvSpPr>
        <p:spPr>
          <a:xfrm>
            <a:off x="548640" y="1408176"/>
            <a:ext cx="9482328" cy="4288535"/>
          </a:xfrm>
        </p:spPr>
        <p:txBody>
          <a:bodyPr>
            <a:normAutofit/>
          </a:bodyPr>
          <a:lstStyle/>
          <a:p>
            <a:pPr algn="just">
              <a:lnSpc>
                <a:spcPct val="100000"/>
              </a:lnSpc>
            </a:pPr>
            <a:r>
              <a:rPr lang="en-US" dirty="0">
                <a:solidFill>
                  <a:schemeClr val="tx1"/>
                </a:solidFill>
                <a:latin typeface="Times New Roman" panose="02020603050405020304" pitchFamily="18" charset="0"/>
                <a:cs typeface="Times New Roman" panose="02020603050405020304" pitchFamily="18" charset="0"/>
              </a:rPr>
              <a:t>Tic Tac Toe is a popular two-player strategy game that involves playing on a 3 × 3 grid, whereby one player places an 'X' while the other player puts an 'O'. The players alternate placing marks in empty squares, and the winner is the first player to successfully put three of his/her symbols in a straight line horizontally, vertically, or diagonally. In case all the squares are occupied without either of the players meeting the winning criteria, the game ends in a tie. In this project, there will be an attempt to create a game of Tic Tac Toe using the C programming language to offer a fun gaming experience for the users while also mastering some basic principles of programming such as the use of arrays, functions, loops, file handling, and taking input from the user.</a:t>
            </a:r>
          </a:p>
        </p:txBody>
      </p:sp>
    </p:spTree>
    <p:extLst>
      <p:ext uri="{BB962C8B-B14F-4D97-AF65-F5344CB8AC3E}">
        <p14:creationId xmlns:p14="http://schemas.microsoft.com/office/powerpoint/2010/main" val="214515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1732-29F4-2E7A-A9CC-E36EA0CD0B0C}"/>
              </a:ext>
            </a:extLst>
          </p:cNvPr>
          <p:cNvSpPr>
            <a:spLocks noGrp="1"/>
          </p:cNvSpPr>
          <p:nvPr>
            <p:ph type="title"/>
          </p:nvPr>
        </p:nvSpPr>
        <p:spPr>
          <a:xfrm>
            <a:off x="435864" y="0"/>
            <a:ext cx="10515600" cy="1471232"/>
          </a:xfrm>
        </p:spPr>
        <p:txBody>
          <a:bodyPr/>
          <a:lstStyle/>
          <a:p>
            <a:pPr algn="ctr"/>
            <a:r>
              <a:rPr lang="en-US" dirty="0"/>
              <a:t>Problem statement </a:t>
            </a:r>
          </a:p>
        </p:txBody>
      </p:sp>
      <p:sp>
        <p:nvSpPr>
          <p:cNvPr id="3" name="Content Placeholder 2">
            <a:extLst>
              <a:ext uri="{FF2B5EF4-FFF2-40B4-BE49-F238E27FC236}">
                <a16:creationId xmlns:a16="http://schemas.microsoft.com/office/drawing/2014/main" id="{183C81B1-1640-233E-0C87-F075E41D98A8}"/>
              </a:ext>
            </a:extLst>
          </p:cNvPr>
          <p:cNvSpPr>
            <a:spLocks noGrp="1"/>
          </p:cNvSpPr>
          <p:nvPr>
            <p:ph idx="1"/>
          </p:nvPr>
        </p:nvSpPr>
        <p:spPr>
          <a:xfrm>
            <a:off x="823638" y="1173037"/>
            <a:ext cx="8596668" cy="3880773"/>
          </a:xfrm>
        </p:spPr>
        <p:txBody>
          <a:bodyPr/>
          <a:lstStyle/>
          <a:p>
            <a:pPr marL="571500" indent="-571500">
              <a:buAutoNum type="romanLcPeriod"/>
            </a:pPr>
            <a:r>
              <a:rPr lang="en-US" dirty="0"/>
              <a:t>No Score Tracking </a:t>
            </a:r>
          </a:p>
          <a:p>
            <a:pPr marL="571500" indent="-571500">
              <a:buAutoNum type="romanLcPeriod"/>
            </a:pPr>
            <a:r>
              <a:rPr lang="en-US" dirty="0"/>
              <a:t>No User Identity </a:t>
            </a:r>
          </a:p>
          <a:p>
            <a:pPr marL="571500" indent="-571500">
              <a:buAutoNum type="romanLcPeriod"/>
            </a:pPr>
            <a:r>
              <a:rPr lang="en-US" dirty="0"/>
              <a:t>Manual Game Management </a:t>
            </a:r>
          </a:p>
          <a:p>
            <a:pPr marL="571500" indent="-571500">
              <a:buAutoNum type="romanLcPeriod"/>
            </a:pPr>
            <a:r>
              <a:rPr lang="en-US" dirty="0"/>
              <a:t>No Persistent History</a:t>
            </a:r>
          </a:p>
          <a:p>
            <a:pPr marL="571500" indent="-571500">
              <a:buAutoNum type="romanLcPeriod"/>
            </a:pPr>
            <a:r>
              <a:rPr lang="en-US" dirty="0"/>
              <a:t>No Visual Appeal </a:t>
            </a:r>
          </a:p>
          <a:p>
            <a:pPr marL="571500" indent="-571500">
              <a:buAutoNum type="romanLcPeriod"/>
            </a:pPr>
            <a:r>
              <a:rPr lang="en-US" dirty="0"/>
              <a:t>No Reset Mechanism </a:t>
            </a:r>
          </a:p>
          <a:p>
            <a:pPr marL="571500" indent="-571500">
              <a:buAutoNum type="romanLcPeriod"/>
            </a:pPr>
            <a:r>
              <a:rPr lang="en-US" dirty="0"/>
              <a:t>No Authentication</a:t>
            </a:r>
          </a:p>
          <a:p>
            <a:pPr marL="0" indent="0">
              <a:buNone/>
            </a:pPr>
            <a:endParaRPr lang="en-US" dirty="0"/>
          </a:p>
          <a:p>
            <a:pPr marL="571500" indent="-571500">
              <a:buAutoNum type="romanLcPeriod"/>
            </a:pPr>
            <a:endParaRPr lang="en-US" dirty="0"/>
          </a:p>
        </p:txBody>
      </p:sp>
    </p:spTree>
    <p:extLst>
      <p:ext uri="{BB962C8B-B14F-4D97-AF65-F5344CB8AC3E}">
        <p14:creationId xmlns:p14="http://schemas.microsoft.com/office/powerpoint/2010/main" val="1997713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7D170-BB4F-B4E4-1D7A-46015277513F}"/>
              </a:ext>
            </a:extLst>
          </p:cNvPr>
          <p:cNvSpPr>
            <a:spLocks noGrp="1"/>
          </p:cNvSpPr>
          <p:nvPr>
            <p:ph type="title"/>
          </p:nvPr>
        </p:nvSpPr>
        <p:spPr>
          <a:xfrm>
            <a:off x="678012" y="0"/>
            <a:ext cx="8596668" cy="1320800"/>
          </a:xfrm>
        </p:spPr>
        <p:txBody>
          <a:bodyPr/>
          <a:lstStyle/>
          <a:p>
            <a:pPr algn="ctr"/>
            <a:r>
              <a:rPr lang="en-US" dirty="0"/>
              <a:t>Objectives</a:t>
            </a:r>
          </a:p>
        </p:txBody>
      </p:sp>
      <p:sp>
        <p:nvSpPr>
          <p:cNvPr id="3" name="Content Placeholder 2">
            <a:extLst>
              <a:ext uri="{FF2B5EF4-FFF2-40B4-BE49-F238E27FC236}">
                <a16:creationId xmlns:a16="http://schemas.microsoft.com/office/drawing/2014/main" id="{85241C0F-A5B4-6708-42B7-31DC87DB42D9}"/>
              </a:ext>
            </a:extLst>
          </p:cNvPr>
          <p:cNvSpPr>
            <a:spLocks noGrp="1"/>
          </p:cNvSpPr>
          <p:nvPr>
            <p:ph idx="1"/>
          </p:nvPr>
        </p:nvSpPr>
        <p:spPr>
          <a:xfrm>
            <a:off x="678012" y="1255333"/>
            <a:ext cx="8596668" cy="3880773"/>
          </a:xfrm>
        </p:spPr>
        <p:txBody>
          <a:bodyPr/>
          <a:lstStyle/>
          <a:p>
            <a:pPr marL="571500" indent="-571500">
              <a:buAutoNum type="romanLcPeriod"/>
            </a:pPr>
            <a:r>
              <a:rPr lang="en-US" dirty="0"/>
              <a:t>To create a match statistics system </a:t>
            </a:r>
          </a:p>
          <a:p>
            <a:pPr marL="571500" indent="-571500">
              <a:buAutoNum type="romanLcPeriod"/>
            </a:pPr>
            <a:r>
              <a:rPr lang="en-US" dirty="0"/>
              <a:t>To develop a fully functional graphical Tic Tac Toe game</a:t>
            </a:r>
          </a:p>
          <a:p>
            <a:pPr marL="571500" indent="-571500">
              <a:buAutoNum type="romanLcPeriod"/>
            </a:pPr>
            <a:r>
              <a:rPr lang="en-US" dirty="0"/>
              <a:t>To implement a user authentication system (Sign Up and Login) </a:t>
            </a:r>
          </a:p>
          <a:p>
            <a:pPr marL="571500" indent="-571500">
              <a:buAutoNum type="romanLcPeriod"/>
            </a:pPr>
            <a:r>
              <a:rPr lang="en-US" dirty="0"/>
              <a:t>To automate the win/draw detection logic </a:t>
            </a:r>
          </a:p>
          <a:p>
            <a:pPr marL="571500" indent="-571500">
              <a:buAutoNum type="romanLcPeriod"/>
            </a:pPr>
            <a:endParaRPr lang="en-US" dirty="0"/>
          </a:p>
        </p:txBody>
      </p:sp>
    </p:spTree>
    <p:extLst>
      <p:ext uri="{BB962C8B-B14F-4D97-AF65-F5344CB8AC3E}">
        <p14:creationId xmlns:p14="http://schemas.microsoft.com/office/powerpoint/2010/main" val="2206491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7638E-133F-EAB3-4C38-C6A560315F05}"/>
              </a:ext>
            </a:extLst>
          </p:cNvPr>
          <p:cNvSpPr>
            <a:spLocks noGrp="1"/>
          </p:cNvSpPr>
          <p:nvPr>
            <p:ph type="title"/>
          </p:nvPr>
        </p:nvSpPr>
        <p:spPr>
          <a:xfrm>
            <a:off x="613326" y="0"/>
            <a:ext cx="8596668" cy="1320800"/>
          </a:xfrm>
        </p:spPr>
        <p:txBody>
          <a:bodyPr/>
          <a:lstStyle/>
          <a:p>
            <a:pPr algn="ctr"/>
            <a:r>
              <a:rPr lang="en-US" dirty="0"/>
              <a:t>Team members work </a:t>
            </a:r>
          </a:p>
        </p:txBody>
      </p:sp>
      <p:graphicFrame>
        <p:nvGraphicFramePr>
          <p:cNvPr id="4" name="Content Placeholder 3">
            <a:extLst>
              <a:ext uri="{FF2B5EF4-FFF2-40B4-BE49-F238E27FC236}">
                <a16:creationId xmlns:a16="http://schemas.microsoft.com/office/drawing/2014/main" id="{85EC5BCB-E9F2-9588-6015-D81155489790}"/>
              </a:ext>
            </a:extLst>
          </p:cNvPr>
          <p:cNvGraphicFramePr>
            <a:graphicFrameLocks noGrp="1"/>
          </p:cNvGraphicFramePr>
          <p:nvPr>
            <p:ph idx="1"/>
            <p:extLst>
              <p:ext uri="{D42A27DB-BD31-4B8C-83A1-F6EECF244321}">
                <p14:modId xmlns:p14="http://schemas.microsoft.com/office/powerpoint/2010/main" val="2104404542"/>
              </p:ext>
            </p:extLst>
          </p:nvPr>
        </p:nvGraphicFramePr>
        <p:xfrm>
          <a:off x="463296" y="1808511"/>
          <a:ext cx="10515600" cy="3467576"/>
        </p:xfrm>
        <a:graphic>
          <a:graphicData uri="http://schemas.openxmlformats.org/drawingml/2006/table">
            <a:tbl>
              <a:tblPr firstRow="1" firstCol="1" bandRow="1">
                <a:tableStyleId>{5C22544A-7EE6-4342-B048-85BDC9FD1C3A}</a:tableStyleId>
              </a:tblPr>
              <a:tblGrid>
                <a:gridCol w="524256">
                  <a:extLst>
                    <a:ext uri="{9D8B030D-6E8A-4147-A177-3AD203B41FA5}">
                      <a16:colId xmlns:a16="http://schemas.microsoft.com/office/drawing/2014/main" val="1846352823"/>
                    </a:ext>
                  </a:extLst>
                </a:gridCol>
                <a:gridCol w="2642616">
                  <a:extLst>
                    <a:ext uri="{9D8B030D-6E8A-4147-A177-3AD203B41FA5}">
                      <a16:colId xmlns:a16="http://schemas.microsoft.com/office/drawing/2014/main" val="3934233482"/>
                    </a:ext>
                  </a:extLst>
                </a:gridCol>
                <a:gridCol w="4719828">
                  <a:extLst>
                    <a:ext uri="{9D8B030D-6E8A-4147-A177-3AD203B41FA5}">
                      <a16:colId xmlns:a16="http://schemas.microsoft.com/office/drawing/2014/main" val="701241213"/>
                    </a:ext>
                  </a:extLst>
                </a:gridCol>
                <a:gridCol w="2628900">
                  <a:extLst>
                    <a:ext uri="{9D8B030D-6E8A-4147-A177-3AD203B41FA5}">
                      <a16:colId xmlns:a16="http://schemas.microsoft.com/office/drawing/2014/main" val="2528286941"/>
                    </a:ext>
                  </a:extLst>
                </a:gridCol>
              </a:tblGrid>
              <a:tr h="448251">
                <a:tc>
                  <a:txBody>
                    <a:bodyPr/>
                    <a:lstStyle/>
                    <a:p>
                      <a:pPr marL="0" marR="0">
                        <a:lnSpc>
                          <a:spcPct val="150000"/>
                        </a:lnSpc>
                        <a:spcAft>
                          <a:spcPts val="800"/>
                        </a:spcAft>
                        <a:buNone/>
                      </a:pPr>
                      <a:r>
                        <a:rPr lang="en-GB" sz="1200" kern="100">
                          <a:effectLst/>
                        </a:rPr>
                        <a:t>S.N.</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Aft>
                          <a:spcPts val="800"/>
                        </a:spcAft>
                        <a:buNone/>
                      </a:pPr>
                      <a:r>
                        <a:rPr lang="en-GB" sz="1200" kern="100" dirty="0">
                          <a:effectLst/>
                        </a:rPr>
                        <a:t>Name of the Member</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Aft>
                          <a:spcPts val="800"/>
                        </a:spcAft>
                        <a:buNone/>
                      </a:pPr>
                      <a:r>
                        <a:rPr lang="en-GB" sz="1200" kern="100">
                          <a:effectLst/>
                        </a:rPr>
                        <a:t>Work Assigned</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Aft>
                          <a:spcPts val="800"/>
                        </a:spcAft>
                        <a:buNone/>
                      </a:pPr>
                      <a:r>
                        <a:rPr lang="en-GB" sz="1200" kern="100">
                          <a:effectLst/>
                        </a:rPr>
                        <a:t>Remarks</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5320492"/>
                  </a:ext>
                </a:extLst>
              </a:tr>
              <a:tr h="947203">
                <a:tc>
                  <a:txBody>
                    <a:bodyPr/>
                    <a:lstStyle/>
                    <a:p>
                      <a:pPr marL="0" marR="0">
                        <a:lnSpc>
                          <a:spcPct val="150000"/>
                        </a:lnSpc>
                        <a:spcAft>
                          <a:spcPts val="800"/>
                        </a:spcAft>
                        <a:buNone/>
                      </a:pPr>
                      <a:r>
                        <a:rPr lang="en-GB" sz="1200" kern="100">
                          <a:effectLst/>
                        </a:rPr>
                        <a:t>1.</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Aft>
                          <a:spcPts val="800"/>
                        </a:spcAft>
                        <a:buNone/>
                      </a:pPr>
                      <a:r>
                        <a:rPr lang="en-GB" sz="1200" kern="100">
                          <a:effectLst/>
                        </a:rPr>
                        <a:t>Prakat Baral</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Aft>
                          <a:spcPts val="800"/>
                        </a:spcAft>
                        <a:buNone/>
                      </a:pPr>
                      <a:r>
                        <a:rPr lang="en-GB" sz="1200" kern="100">
                          <a:effectLst/>
                        </a:rPr>
                        <a:t>Documentation and coding. Game logic. DFD design. Problem identification.</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endParaRPr lang="en-US" sz="1200" kern="10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68173643"/>
                  </a:ext>
                </a:extLst>
              </a:tr>
              <a:tr h="947203">
                <a:tc>
                  <a:txBody>
                    <a:bodyPr/>
                    <a:lstStyle/>
                    <a:p>
                      <a:pPr marL="0" marR="0">
                        <a:lnSpc>
                          <a:spcPct val="150000"/>
                        </a:lnSpc>
                        <a:spcAft>
                          <a:spcPts val="800"/>
                        </a:spcAft>
                        <a:buNone/>
                      </a:pPr>
                      <a:r>
                        <a:rPr lang="en-GB" sz="1200" kern="100">
                          <a:effectLst/>
                        </a:rPr>
                        <a:t>2.</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Aft>
                          <a:spcPts val="800"/>
                        </a:spcAft>
                        <a:buNone/>
                      </a:pPr>
                      <a:r>
                        <a:rPr lang="en-GB" sz="1200" kern="100">
                          <a:effectLst/>
                        </a:rPr>
                        <a:t>Aabishkar Acharya</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Aft>
                          <a:spcPts val="800"/>
                        </a:spcAft>
                        <a:buNone/>
                      </a:pPr>
                      <a:r>
                        <a:rPr lang="en-GB" sz="1200" kern="100">
                          <a:effectLst/>
                        </a:rPr>
                        <a:t>Documentation and coding. Login/Signup system. System design support. Flowchart design.</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endParaRPr lang="en-US" sz="1200" kern="10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61100891"/>
                  </a:ext>
                </a:extLst>
              </a:tr>
              <a:tr h="1124919">
                <a:tc>
                  <a:txBody>
                    <a:bodyPr/>
                    <a:lstStyle/>
                    <a:p>
                      <a:pPr marL="0" marR="0">
                        <a:lnSpc>
                          <a:spcPct val="150000"/>
                        </a:lnSpc>
                        <a:spcAft>
                          <a:spcPts val="800"/>
                        </a:spcAft>
                        <a:buNone/>
                      </a:pPr>
                      <a:r>
                        <a:rPr lang="en-GB" sz="1200" kern="100">
                          <a:effectLst/>
                        </a:rPr>
                        <a:t>3.</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Aft>
                          <a:spcPts val="800"/>
                        </a:spcAft>
                        <a:buNone/>
                      </a:pPr>
                      <a:r>
                        <a:rPr lang="en-GB" sz="1200" kern="100">
                          <a:effectLst/>
                        </a:rPr>
                        <a:t>Aakarshan Karki</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Aft>
                          <a:spcPts val="800"/>
                        </a:spcAft>
                        <a:buNone/>
                      </a:pPr>
                      <a:r>
                        <a:rPr lang="en-GB" sz="1200" kern="100">
                          <a:effectLst/>
                        </a:rPr>
                        <a:t>Documentation and coding. Statistics module. Testing. Support in system design.</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buNone/>
                      </a:pPr>
                      <a:endParaRPr lang="en-US" sz="1200" kern="100" dirty="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47601015"/>
                  </a:ext>
                </a:extLst>
              </a:tr>
            </a:tbl>
          </a:graphicData>
        </a:graphic>
      </p:graphicFrame>
    </p:spTree>
    <p:extLst>
      <p:ext uri="{BB962C8B-B14F-4D97-AF65-F5344CB8AC3E}">
        <p14:creationId xmlns:p14="http://schemas.microsoft.com/office/powerpoint/2010/main" val="177884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2C71E-B569-0185-0DB0-3FC6483836B3}"/>
              </a:ext>
            </a:extLst>
          </p:cNvPr>
          <p:cNvSpPr>
            <a:spLocks noGrp="1"/>
          </p:cNvSpPr>
          <p:nvPr>
            <p:ph type="title"/>
          </p:nvPr>
        </p:nvSpPr>
        <p:spPr>
          <a:xfrm>
            <a:off x="741342" y="0"/>
            <a:ext cx="8596668" cy="1320800"/>
          </a:xfrm>
        </p:spPr>
        <p:txBody>
          <a:bodyPr/>
          <a:lstStyle/>
          <a:p>
            <a:pPr algn="ctr"/>
            <a:r>
              <a:rPr lang="en-US" dirty="0"/>
              <a:t>Level 0 Dataflow Diagram</a:t>
            </a:r>
          </a:p>
        </p:txBody>
      </p:sp>
      <p:pic>
        <p:nvPicPr>
          <p:cNvPr id="5" name="Content Placeholder 4">
            <a:extLst>
              <a:ext uri="{FF2B5EF4-FFF2-40B4-BE49-F238E27FC236}">
                <a16:creationId xmlns:a16="http://schemas.microsoft.com/office/drawing/2014/main" id="{C216A5D5-4594-301F-6BF5-741870F01BBA}"/>
              </a:ext>
            </a:extLst>
          </p:cNvPr>
          <p:cNvPicPr>
            <a:picLocks noGrp="1" noChangeAspect="1"/>
          </p:cNvPicPr>
          <p:nvPr>
            <p:ph idx="1"/>
          </p:nvPr>
        </p:nvPicPr>
        <p:blipFill>
          <a:blip r:embed="rId2"/>
          <a:stretch>
            <a:fillRect/>
          </a:stretch>
        </p:blipFill>
        <p:spPr>
          <a:xfrm>
            <a:off x="1536192" y="593344"/>
            <a:ext cx="6190488" cy="6190488"/>
          </a:xfrm>
          <a:prstGeom prst="rect">
            <a:avLst/>
          </a:prstGeom>
        </p:spPr>
      </p:pic>
    </p:spTree>
    <p:extLst>
      <p:ext uri="{BB962C8B-B14F-4D97-AF65-F5344CB8AC3E}">
        <p14:creationId xmlns:p14="http://schemas.microsoft.com/office/powerpoint/2010/main" val="1987247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2BE2F-7F7A-6097-8E96-96A34C39E184}"/>
              </a:ext>
            </a:extLst>
          </p:cNvPr>
          <p:cNvSpPr>
            <a:spLocks noGrp="1"/>
          </p:cNvSpPr>
          <p:nvPr>
            <p:ph type="title"/>
          </p:nvPr>
        </p:nvSpPr>
        <p:spPr>
          <a:xfrm>
            <a:off x="622470" y="0"/>
            <a:ext cx="8596668" cy="1320800"/>
          </a:xfrm>
        </p:spPr>
        <p:txBody>
          <a:bodyPr/>
          <a:lstStyle/>
          <a:p>
            <a:pPr algn="ctr"/>
            <a:r>
              <a:rPr lang="en-US" dirty="0"/>
              <a:t>Level 1 Dataflow Diagram</a:t>
            </a:r>
          </a:p>
        </p:txBody>
      </p:sp>
      <p:pic>
        <p:nvPicPr>
          <p:cNvPr id="5" name="Content Placeholder 4">
            <a:extLst>
              <a:ext uri="{FF2B5EF4-FFF2-40B4-BE49-F238E27FC236}">
                <a16:creationId xmlns:a16="http://schemas.microsoft.com/office/drawing/2014/main" id="{25F7FD28-9DBC-FA8F-934E-DEBB37D76A35}"/>
              </a:ext>
            </a:extLst>
          </p:cNvPr>
          <p:cNvPicPr>
            <a:picLocks noGrp="1" noChangeAspect="1"/>
          </p:cNvPicPr>
          <p:nvPr>
            <p:ph idx="1"/>
          </p:nvPr>
        </p:nvPicPr>
        <p:blipFill>
          <a:blip r:embed="rId2"/>
          <a:stretch>
            <a:fillRect/>
          </a:stretch>
        </p:blipFill>
        <p:spPr>
          <a:xfrm>
            <a:off x="1993392" y="783274"/>
            <a:ext cx="6080760" cy="6080760"/>
          </a:xfrm>
          <a:prstGeom prst="rect">
            <a:avLst/>
          </a:prstGeom>
        </p:spPr>
      </p:pic>
    </p:spTree>
    <p:extLst>
      <p:ext uri="{BB962C8B-B14F-4D97-AF65-F5344CB8AC3E}">
        <p14:creationId xmlns:p14="http://schemas.microsoft.com/office/powerpoint/2010/main" val="978364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B9193-D736-AE3E-F4EC-5848E2EE8971}"/>
              </a:ext>
            </a:extLst>
          </p:cNvPr>
          <p:cNvSpPr>
            <a:spLocks noGrp="1"/>
          </p:cNvSpPr>
          <p:nvPr>
            <p:ph type="title"/>
          </p:nvPr>
        </p:nvSpPr>
        <p:spPr>
          <a:xfrm>
            <a:off x="595038" y="0"/>
            <a:ext cx="8596668" cy="1320800"/>
          </a:xfrm>
        </p:spPr>
        <p:txBody>
          <a:bodyPr/>
          <a:lstStyle/>
          <a:p>
            <a:pPr algn="ctr"/>
            <a:r>
              <a:rPr lang="en-US" dirty="0"/>
              <a:t>Use Case Diagram</a:t>
            </a:r>
          </a:p>
        </p:txBody>
      </p:sp>
      <p:pic>
        <p:nvPicPr>
          <p:cNvPr id="5" name="Content Placeholder 4">
            <a:extLst>
              <a:ext uri="{FF2B5EF4-FFF2-40B4-BE49-F238E27FC236}">
                <a16:creationId xmlns:a16="http://schemas.microsoft.com/office/drawing/2014/main" id="{F5893A96-299B-857E-56BB-23E3A6C82ABC}"/>
              </a:ext>
            </a:extLst>
          </p:cNvPr>
          <p:cNvPicPr>
            <a:picLocks noGrp="1" noChangeAspect="1"/>
          </p:cNvPicPr>
          <p:nvPr>
            <p:ph idx="1"/>
          </p:nvPr>
        </p:nvPicPr>
        <p:blipFill>
          <a:blip r:embed="rId2"/>
          <a:stretch>
            <a:fillRect/>
          </a:stretch>
        </p:blipFill>
        <p:spPr>
          <a:xfrm>
            <a:off x="1911096" y="791269"/>
            <a:ext cx="6099048" cy="6065962"/>
          </a:xfrm>
          <a:prstGeom prst="rect">
            <a:avLst/>
          </a:prstGeom>
        </p:spPr>
      </p:pic>
    </p:spTree>
    <p:extLst>
      <p:ext uri="{BB962C8B-B14F-4D97-AF65-F5344CB8AC3E}">
        <p14:creationId xmlns:p14="http://schemas.microsoft.com/office/powerpoint/2010/main" val="3137065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AF854-C8F0-2CE9-1A8D-133C548D2A13}"/>
              </a:ext>
            </a:extLst>
          </p:cNvPr>
          <p:cNvSpPr>
            <a:spLocks noGrp="1"/>
          </p:cNvSpPr>
          <p:nvPr>
            <p:ph type="title"/>
          </p:nvPr>
        </p:nvSpPr>
        <p:spPr>
          <a:xfrm>
            <a:off x="677335" y="0"/>
            <a:ext cx="8596668" cy="1320800"/>
          </a:xfrm>
        </p:spPr>
        <p:txBody>
          <a:bodyPr/>
          <a:lstStyle/>
          <a:p>
            <a:pPr algn="ctr"/>
            <a:r>
              <a:rPr lang="en-US" dirty="0"/>
              <a:t>Flowchart</a:t>
            </a:r>
          </a:p>
        </p:txBody>
      </p:sp>
      <p:pic>
        <p:nvPicPr>
          <p:cNvPr id="5" name="Content Placeholder 4">
            <a:extLst>
              <a:ext uri="{FF2B5EF4-FFF2-40B4-BE49-F238E27FC236}">
                <a16:creationId xmlns:a16="http://schemas.microsoft.com/office/drawing/2014/main" id="{1C3A93E1-0E23-D358-1CE5-CF81F11AFF76}"/>
              </a:ext>
            </a:extLst>
          </p:cNvPr>
          <p:cNvPicPr>
            <a:picLocks noGrp="1" noChangeAspect="1"/>
          </p:cNvPicPr>
          <p:nvPr>
            <p:ph idx="1"/>
          </p:nvPr>
        </p:nvPicPr>
        <p:blipFill>
          <a:blip r:embed="rId2"/>
          <a:stretch>
            <a:fillRect/>
          </a:stretch>
        </p:blipFill>
        <p:spPr>
          <a:xfrm>
            <a:off x="2377440" y="662881"/>
            <a:ext cx="5515919" cy="6195119"/>
          </a:xfrm>
          <a:prstGeom prst="rect">
            <a:avLst/>
          </a:prstGeom>
        </p:spPr>
      </p:pic>
    </p:spTree>
    <p:extLst>
      <p:ext uri="{BB962C8B-B14F-4D97-AF65-F5344CB8AC3E}">
        <p14:creationId xmlns:p14="http://schemas.microsoft.com/office/powerpoint/2010/main" val="30157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A392153-374E-33DC-CDE8-A47736AD43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9536" y="0"/>
            <a:ext cx="7900416" cy="6803136"/>
          </a:xfrm>
          <a:prstGeom prst="rect">
            <a:avLst/>
          </a:prstGeom>
        </p:spPr>
      </p:pic>
    </p:spTree>
    <p:extLst>
      <p:ext uri="{BB962C8B-B14F-4D97-AF65-F5344CB8AC3E}">
        <p14:creationId xmlns:p14="http://schemas.microsoft.com/office/powerpoint/2010/main" val="2653642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3B26E-938D-FCF0-4038-326A0DCC280A}"/>
              </a:ext>
            </a:extLst>
          </p:cNvPr>
          <p:cNvSpPr>
            <a:spLocks noGrp="1"/>
          </p:cNvSpPr>
          <p:nvPr>
            <p:ph type="title"/>
          </p:nvPr>
        </p:nvSpPr>
        <p:spPr>
          <a:xfrm>
            <a:off x="677334" y="0"/>
            <a:ext cx="8596668" cy="1320800"/>
          </a:xfrm>
        </p:spPr>
        <p:txBody>
          <a:bodyPr/>
          <a:lstStyle/>
          <a:p>
            <a:pPr algn="ctr"/>
            <a:r>
              <a:rPr lang="en-US" dirty="0"/>
              <a:t>Conclusion</a:t>
            </a:r>
          </a:p>
        </p:txBody>
      </p:sp>
      <p:sp>
        <p:nvSpPr>
          <p:cNvPr id="3" name="Content Placeholder 2">
            <a:extLst>
              <a:ext uri="{FF2B5EF4-FFF2-40B4-BE49-F238E27FC236}">
                <a16:creationId xmlns:a16="http://schemas.microsoft.com/office/drawing/2014/main" id="{099EAF45-A5C6-4262-227A-8F331B9E7633}"/>
              </a:ext>
            </a:extLst>
          </p:cNvPr>
          <p:cNvSpPr>
            <a:spLocks noGrp="1"/>
          </p:cNvSpPr>
          <p:nvPr>
            <p:ph idx="1"/>
          </p:nvPr>
        </p:nvSpPr>
        <p:spPr>
          <a:xfrm>
            <a:off x="677334" y="1320800"/>
            <a:ext cx="8596668" cy="3880773"/>
          </a:xfrm>
        </p:spPr>
        <p:txBody>
          <a:bodyPr/>
          <a:lstStyle/>
          <a:p>
            <a:pPr marL="0" indent="0">
              <a:buNone/>
            </a:pPr>
            <a:r>
              <a:rPr lang="en-US" dirty="0"/>
              <a:t>The Tic Tac Toe Game developed using the C programming language and the Raylib graphics library successfully demonstrates the application of fundamental programming concepts in a real-world project. The system provides an interactive graphical interface, secure user authentication through login and signup, and persistent match statistics using file handling.</a:t>
            </a:r>
          </a:p>
          <a:p>
            <a:pPr marL="0" indent="0">
              <a:buNone/>
            </a:pPr>
            <a:r>
              <a:rPr lang="en-US" dirty="0"/>
              <a:t>Throughout the development of this project, we gained practical experience in modular programming, graphics programming, event handling, file management, and teamwork. The project also improved our problem-solving and debugging skills while giving us hands-on experience in software development. Overall, this project met its objectives and serves as a strong foundation for developing more advanced games and graphical applications in the future.</a:t>
            </a:r>
          </a:p>
        </p:txBody>
      </p:sp>
    </p:spTree>
    <p:extLst>
      <p:ext uri="{BB962C8B-B14F-4D97-AF65-F5344CB8AC3E}">
        <p14:creationId xmlns:p14="http://schemas.microsoft.com/office/powerpoint/2010/main" val="333959805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202</TotalTime>
  <Words>419</Words>
  <Application>Microsoft Office PowerPoint</Application>
  <PresentationFormat>Widescreen</PresentationFormat>
  <Paragraphs>36</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Times New Roman</vt:lpstr>
      <vt:lpstr>Trebuchet MS</vt:lpstr>
      <vt:lpstr>Wingdings 3</vt:lpstr>
      <vt:lpstr>Facet</vt:lpstr>
      <vt:lpstr>Introduction</vt:lpstr>
      <vt:lpstr>Problem statement </vt:lpstr>
      <vt:lpstr>Objectives</vt:lpstr>
      <vt:lpstr>Team members work </vt:lpstr>
      <vt:lpstr>Level 0 Dataflow Diagram</vt:lpstr>
      <vt:lpstr>Level 1 Dataflow Diagram</vt:lpstr>
      <vt:lpstr>Use Case Diagram</vt:lpstr>
      <vt:lpstr>Flowchart</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prakat baral</dc:creator>
  <cp:lastModifiedBy>prakat baral</cp:lastModifiedBy>
  <cp:revision>2</cp:revision>
  <dcterms:created xsi:type="dcterms:W3CDTF">2026-07-11T10:26:50Z</dcterms:created>
  <dcterms:modified xsi:type="dcterms:W3CDTF">2026-07-11T13:49:24Z</dcterms:modified>
</cp:coreProperties>
</file>